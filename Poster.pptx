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30284738" cy="21388388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725" y="-9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E3E6458-1C35-772C-4BA9-C3EFA0164F9D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2D0B8-7202-F9C8-5A55-FB4C1BE52497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13333F-A243-CD95-771E-4FF70BCDC5C2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A9BDC4-8463-4FF1-2C0C-85E781658493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26EB633B-3FE5-436E-B716-63BA77164418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601957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8DD73-D1BB-DB00-9CCE-464FA6947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79" cy="400895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BBE5-7F00-8DE6-EAD5-6A18828B661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FD99038-B55C-2B36-7BA9-17FC917550D3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541CF-A4C3-588D-6470-66C26C6BB9C9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5E135F-834F-BB78-EF46-B86FFA83DCAF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73560-64E3-7F24-AB19-0C2D26CFF8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fld id="{BC615A1A-1DCC-4D56-A895-25D149B35AA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340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rtl="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cs typeface="Noto Sans Devanagari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4F12B9-E436-F7A1-99C0-004886AE538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948E76E-E824-466D-B4F7-8C7B174B11E7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982EBB-BA55-67E0-56A3-C145B9EB7D2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941388" y="812800"/>
            <a:ext cx="56769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compatLnSpc="0">
            <a:noAutofit/>
          </a:bodyPr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A48C32-15E0-5868-3637-0B4AAB3CB3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0AE1A-DD24-5695-6037-30547029E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6188" y="3500438"/>
            <a:ext cx="22712362" cy="744696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ECE79C-758F-F9F4-1B0B-8595E4FF6B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6188" y="11233150"/>
            <a:ext cx="22712362" cy="5164138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B16A2-8D9C-F9D5-9440-FFCA49339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2FCE9-9686-EE5D-9037-5B40AF282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2DBD8-D443-3839-688C-450837792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0B137E5-E643-4EAD-AAF1-C7FFE2CFC08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034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37481-C69F-E314-794D-C992E577D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8072-FDA6-9083-BF0A-C3370EB1E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4F164-D139-28BC-132B-FD9A8EC9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D8784-D591-A3FA-272D-01DDE19B2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008937-B214-3BA0-B7F2-27970A0F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F350353-1721-41A0-8DB1-F28A1B01C15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338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07545-89A3-AC06-47EC-BD31743B3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6925" y="5332413"/>
            <a:ext cx="26120725" cy="88963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F8514-CF6D-1F3C-E9CB-72972A8BE9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6925" y="14312900"/>
            <a:ext cx="26120725" cy="467995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FA8F9-0007-CC80-81B4-B7F98BD77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957BB-9E40-DC82-AD55-18933E56A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E914-FF69-B2D7-DE4F-0A9CB968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B2B5972-B019-4860-B0D6-3F4DA63F1E0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999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9B7D3-8ADA-CAE1-AFB9-951D61CD7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E85B5-0EB3-E87F-C334-2F81F93E1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14475" y="5003800"/>
            <a:ext cx="13550900" cy="124031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AF97D-B17B-266F-DCC2-4FABCDAB23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217775" y="5003800"/>
            <a:ext cx="13550900" cy="124031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BD9C4-0A82-8494-B4F0-F6FD63636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ECFE63-8168-A1F6-16FB-41068B467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919945-E504-0034-5B3A-B2F1BC8BF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F21CF81-012D-42AB-939C-960E35D129B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637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00BAF-1E2D-6C25-E67F-DB177BBFF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138238"/>
            <a:ext cx="26120725" cy="4133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1B678-1564-949D-A1C3-D01F35A19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975" y="5243513"/>
            <a:ext cx="12811125" cy="25685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085096-8386-7346-05F3-3A998A554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975" y="7812088"/>
            <a:ext cx="12811125" cy="11491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71102F-D3E5-1A2B-5DB1-D998B203B9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32075" y="5243513"/>
            <a:ext cx="12874625" cy="25685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44EC3-EFFC-0836-5625-E361394B34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32075" y="7812088"/>
            <a:ext cx="12874625" cy="11491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D8693C-5A55-FDE2-2D12-4DFBE95EB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B5418E-D324-FAC2-C115-AAF4FB921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717D0F-45E3-B1C2-1FF4-872CB3542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B9EB354-ABE8-4439-99EE-506D6F6946B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71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86E9A-A72C-9C36-4F5E-F8967109A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A7FFB5-735D-979E-F632-8AF4B1510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C66C70-C746-8532-3910-0FD2E7809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836801-9BBF-F8DC-BD39-777C7E741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1EE542F-6107-47A5-B2D8-4C8BBE16CD1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914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0701CE-C559-D6C2-A3DE-67DFF4661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EA80D2-4171-AEB7-BD60-E6BF9178A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B4EC1-A099-4243-B93C-A1EFAA80F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1B1190-4734-46A0-AFEC-E82674EB34E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31910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ECB47-D78D-48CB-3722-A19EF00DD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425575"/>
            <a:ext cx="9767888" cy="49911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A21AE-D938-DA1F-21C5-3F404D768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25" y="3079750"/>
            <a:ext cx="15332075" cy="151987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8B06A5-EFA5-0A68-6898-60FD402A71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975" y="6416675"/>
            <a:ext cx="9767888" cy="11887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708879-244D-8C2E-305A-1FD14E89E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9D7657-3D52-DE5A-3D68-BA70B6B7B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C0AA1-4521-E744-E302-C1332734B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6A2802A-1B53-44FE-9DCC-61DD5224936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271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65472-7187-FF1B-9FA2-5A658CE70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425575"/>
            <a:ext cx="9767888" cy="49911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E105A5-FBB3-3304-8CA3-5A53F802C2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4625" y="3079750"/>
            <a:ext cx="15332075" cy="151987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5B915-8209-071E-8EBF-099D63E1C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975" y="6416675"/>
            <a:ext cx="9767888" cy="11887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D1E0AB-1D8F-5B5C-C931-C646D735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63A006-6C62-87C8-D363-E52505C98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D6DFD-F264-A043-9D88-AEA9A0F3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1A31ED3-F2A4-4ABC-9CE8-16A16D6EA75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7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18C9-F153-225C-7977-9109A6B06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8714C8-06A4-C7A1-F838-79D6D2568B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74689-2E39-7F33-38E9-43706E4DC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C25D0-E117-6A7A-AB50-291835C72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FC7C4-618A-B664-859B-24CD9839E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1221E77-FE18-4414-8226-A9E5BAC5713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299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FB6DA-A672-E4F1-CB90-1C2EE7E7AF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955125" y="852488"/>
            <a:ext cx="6813550" cy="165544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18725-3A94-B543-AAAC-8D2756C8C7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14475" y="852488"/>
            <a:ext cx="20288250" cy="16554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2AA4F-B277-C5B2-5648-DAE6A39A3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3C117-832E-7ED9-A622-DDB614020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D04-951D-83F8-C6CE-015D56DD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FD131EF-998C-4F7B-968D-F537D223C48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312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3FE776-EA77-1784-B836-2E663C6993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3800" y="852480"/>
            <a:ext cx="27255600" cy="3570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0552E-75E3-DDA9-2555-FCDBA13BA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513800" y="5003640"/>
            <a:ext cx="27255600" cy="12403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6F73F-3B2B-6C56-3709-6340CB4209A7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1513800" y="19483560"/>
            <a:ext cx="705528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26712-188B-5D86-3F56-9B1CE5AFD0C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10356840" y="19483560"/>
            <a:ext cx="959904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644B1-CBD0-316B-4D26-E788D6D00D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1713760" y="19483560"/>
            <a:ext cx="705528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fld id="{6488C6C1-9447-406A-83A4-217DF073D32E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hangingPunct="0">
        <a:tabLst/>
        <a:defRPr lang="en-US" sz="1659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oto Sans Devanagari" pitchFamily="2"/>
        </a:defRPr>
      </a:lvl1pPr>
    </p:titleStyle>
    <p:bodyStyle>
      <a:lvl1pPr marL="0" marR="0" indent="0" rtl="0" hangingPunct="0">
        <a:spcBef>
          <a:spcPts val="5343"/>
        </a:spcBef>
        <a:spcAft>
          <a:spcPts val="0"/>
        </a:spcAft>
        <a:tabLst/>
        <a:defRPr lang="en-US" sz="1207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oto Sans Devanagari" pitchFamily="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openxmlformats.org/officeDocument/2006/relationships/image" Target="../media/image8.jpg"/><Relationship Id="rId5" Type="http://schemas.openxmlformats.org/officeDocument/2006/relationships/image" Target="../media/image3.png"/><Relationship Id="rId10" Type="http://schemas.openxmlformats.org/officeDocument/2006/relationships/image" Target="../media/image7.png"/><Relationship Id="rId4" Type="http://schemas.openxmlformats.org/officeDocument/2006/relationships/image" Target="../media/image2.sv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F07E72-103C-50B8-1282-4F4CEF6E6D1A}"/>
              </a:ext>
            </a:extLst>
          </p:cNvPr>
          <p:cNvSpPr/>
          <p:nvPr/>
        </p:nvSpPr>
        <p:spPr>
          <a:xfrm>
            <a:off x="6868440" y="-4176840"/>
            <a:ext cx="24725879" cy="11309160"/>
          </a:xfrm>
          <a:custGeom>
            <a:avLst>
              <a:gd name="f0" fmla="val 3809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C0F26"/>
          </a:solidFill>
          <a:ln cap="rnd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 vert="horz" wrap="square" lIns="93240" tIns="48240" rIns="93240" bIns="48240" anchor="ctr" anchorCtr="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6000">
                <a:latin typeface="Noto Sans Bhaiksuki" pitchFamily="34"/>
              </a:defRPr>
            </a:pPr>
            <a:endParaRPr lang="en-US" sz="6000" b="0" i="0" u="none" strike="noStrike" kern="1200" cap="none">
              <a:ln>
                <a:noFill/>
              </a:ln>
              <a:latin typeface="Noto Sans Bhaiksuki" pitchFamily="34"/>
              <a:ea typeface="Noto Sans CJK SC" pitchFamily="2"/>
              <a:cs typeface="Noto Sans Devanagari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C47AF38-9DD7-77F1-9754-93B6C8694D2C}"/>
              </a:ext>
            </a:extLst>
          </p:cNvPr>
          <p:cNvSpPr/>
          <p:nvPr/>
        </p:nvSpPr>
        <p:spPr>
          <a:xfrm>
            <a:off x="0" y="0"/>
            <a:ext cx="6868440" cy="2138795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6F0F0"/>
          </a:solidFill>
          <a:ln w="0" cap="rnd">
            <a:solidFill>
              <a:srgbClr val="000000">
                <a:alpha val="0"/>
              </a:srgbClr>
            </a:solidFill>
            <a:prstDash val="solid"/>
            <a:miter/>
          </a:ln>
        </p:spPr>
        <p:txBody>
          <a:bodyPr vert="horz" wrap="squar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71A014E-A79D-92A1-9C42-CFD1C04802D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 amt="10000"/>
            <a:grayscl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11445240" y="457200"/>
            <a:ext cx="5806440" cy="580644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EC319A-7144-900D-39AD-C772DAF7226D}"/>
              </a:ext>
            </a:extLst>
          </p:cNvPr>
          <p:cNvSpPr txBox="1"/>
          <p:nvPr/>
        </p:nvSpPr>
        <p:spPr>
          <a:xfrm>
            <a:off x="8018503" y="2027718"/>
            <a:ext cx="1658112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0" dirty="0">
                <a:solidFill>
                  <a:schemeClr val="bg1"/>
                </a:solidFill>
                <a:latin typeface="Georgia Pro" panose="02040502050405020303" pitchFamily="18" charset="0"/>
                <a:cs typeface="Aharoni" panose="020F0502020204030204" pitchFamily="2" charset="-79"/>
              </a:rPr>
              <a:t>Can neural networks extract biological information from mass spectrometry data?</a:t>
            </a:r>
            <a:endParaRPr lang="en-ZA" sz="7000" dirty="0">
              <a:solidFill>
                <a:schemeClr val="bg1"/>
              </a:solidFill>
              <a:latin typeface="Georgia Pro" panose="02040502050405020303" pitchFamily="18" charset="0"/>
              <a:cs typeface="Aharoni" panose="020F0502020204030204" pitchFamily="2" charset="-79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EC7E40-8901-9066-505B-18524172FBC2}"/>
              </a:ext>
            </a:extLst>
          </p:cNvPr>
          <p:cNvSpPr/>
          <p:nvPr/>
        </p:nvSpPr>
        <p:spPr>
          <a:xfrm>
            <a:off x="-406620" y="2866105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 dirty="0">
                <a:solidFill>
                  <a:schemeClr val="bg1"/>
                </a:solidFill>
                <a:latin typeface="Georgia Pro" panose="02040502050405020303" pitchFamily="18" charset="0"/>
              </a:rPr>
              <a:t>	Background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8D4F56-9061-B9E7-5EF8-DBEE68D6409E}"/>
              </a:ext>
            </a:extLst>
          </p:cNvPr>
          <p:cNvSpPr/>
          <p:nvPr/>
        </p:nvSpPr>
        <p:spPr>
          <a:xfrm>
            <a:off x="-406620" y="8588400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 dirty="0">
                <a:solidFill>
                  <a:schemeClr val="bg1"/>
                </a:solidFill>
                <a:latin typeface="Georgia Pro" panose="02040502050405020303" pitchFamily="18" charset="0"/>
              </a:rPr>
              <a:t>	Methods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E6EB86-8E55-4D0F-9663-7F907ADF2F0C}"/>
              </a:ext>
            </a:extLst>
          </p:cNvPr>
          <p:cNvSpPr/>
          <p:nvPr/>
        </p:nvSpPr>
        <p:spPr>
          <a:xfrm>
            <a:off x="-406620" y="14988179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 dirty="0">
                <a:solidFill>
                  <a:schemeClr val="bg1"/>
                </a:solidFill>
                <a:latin typeface="Georgia Pro" panose="02040502050405020303" pitchFamily="18" charset="0"/>
              </a:rPr>
              <a:t>	Results</a:t>
            </a:r>
          </a:p>
        </p:txBody>
      </p:sp>
      <p:pic>
        <p:nvPicPr>
          <p:cNvPr id="13" name="Picture 12" descr="A stick figure waving with one hand">
            <a:extLst>
              <a:ext uri="{FF2B5EF4-FFF2-40B4-BE49-F238E27FC236}">
                <a16:creationId xmlns:a16="http://schemas.microsoft.com/office/drawing/2014/main" id="{CB11A94A-1F8D-8A95-9191-6D9F9EC03F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8805" y1="37730" x2="48805" y2="37730"/>
                        <a14:foregroundMark x1="50376" y1="38147" x2="50376" y2="38147"/>
                        <a14:foregroundMark x1="50376" y1="41444" x2="50376" y2="41444"/>
                        <a14:foregroundMark x1="48919" y1="32972" x2="48919" y2="32972"/>
                        <a14:foregroundMark x1="48350" y1="33598" x2="48350" y2="33598"/>
                        <a14:foregroundMark x1="46779" y1="35058" x2="46005" y2="36686"/>
                        <a14:foregroundMark x1="51172" y1="38982" x2="51172" y2="38982"/>
                        <a14:foregroundMark x1="48463" y1="37521" x2="48463" y2="37521"/>
                        <a14:foregroundMark x1="50489" y1="38147" x2="50489" y2="38147"/>
                        <a14:foregroundMark x1="50489" y1="37521" x2="50717" y2="38147"/>
                        <a14:backgroundMark x1="50717" y1="70743" x2="50717" y2="63898"/>
                        <a14:backgroundMark x1="56340" y1="37730" x2="56340" y2="37730"/>
                        <a14:backgroundMark x1="45208" y1="60434" x2="45208" y2="60434"/>
                        <a14:backgroundMark x1="46665" y1="38982" x2="46665" y2="38982"/>
                        <a14:backgroundMark x1="49602" y1="42905" x2="49602" y2="429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97663" y="-217214"/>
            <a:ext cx="3806906" cy="2076494"/>
          </a:xfrm>
          <a:prstGeom prst="rect">
            <a:avLst/>
          </a:prstGeom>
        </p:spPr>
      </p:pic>
      <p:pic>
        <p:nvPicPr>
          <p:cNvPr id="15" name="Picture 14" descr="A cartoon mouse with a black background">
            <a:extLst>
              <a:ext uri="{FF2B5EF4-FFF2-40B4-BE49-F238E27FC236}">
                <a16:creationId xmlns:a16="http://schemas.microsoft.com/office/drawing/2014/main" id="{1D838427-3811-60E3-2D7F-33502C3ED6A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0258" y="19593273"/>
            <a:ext cx="1554480" cy="179468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B98A916-12C7-330D-E263-D1611D3DCDDC}"/>
              </a:ext>
            </a:extLst>
          </p:cNvPr>
          <p:cNvSpPr txBox="1"/>
          <p:nvPr/>
        </p:nvSpPr>
        <p:spPr>
          <a:xfrm>
            <a:off x="990600" y="365760"/>
            <a:ext cx="57302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500" dirty="0">
                <a:solidFill>
                  <a:schemeClr val="bg2">
                    <a:lumMod val="50000"/>
                  </a:schemeClr>
                </a:solidFill>
                <a:latin typeface="Georgia Pro" panose="02040502050405020303" pitchFamily="18" charset="0"/>
              </a:rPr>
              <a:t>Presenter</a:t>
            </a:r>
          </a:p>
          <a:p>
            <a:r>
              <a:rPr lang="en-ZA" sz="3500" dirty="0">
                <a:latin typeface="Georgia Pro" panose="02040502050405020303" pitchFamily="18" charset="0"/>
              </a:rPr>
              <a:t>Tapiwa Mazarura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70D3DD-EE10-1D61-C994-D3ECFF46B211}"/>
              </a:ext>
            </a:extLst>
          </p:cNvPr>
          <p:cNvSpPr txBox="1"/>
          <p:nvPr/>
        </p:nvSpPr>
        <p:spPr>
          <a:xfrm>
            <a:off x="0" y="1493520"/>
            <a:ext cx="67208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000" dirty="0">
                <a:solidFill>
                  <a:schemeClr val="bg2">
                    <a:lumMod val="50000"/>
                  </a:schemeClr>
                </a:solidFill>
                <a:latin typeface="Georgia Pro" panose="02040502050405020303" pitchFamily="18" charset="0"/>
              </a:rPr>
              <a:t>Supervisors:</a:t>
            </a:r>
          </a:p>
          <a:p>
            <a:r>
              <a:rPr lang="en-ZA" sz="2300" dirty="0">
                <a:latin typeface="Georgia Pro" panose="02040502050405020303" pitchFamily="18" charset="0"/>
              </a:rPr>
              <a:t>	Dr Devon Jarvis</a:t>
            </a:r>
          </a:p>
          <a:p>
            <a:r>
              <a:rPr lang="en-ZA" sz="2300" dirty="0">
                <a:latin typeface="Georgia Pro" panose="02040502050405020303" pitchFamily="18" charset="0"/>
              </a:rPr>
              <a:t>	Dr Hairong Bau</a:t>
            </a:r>
          </a:p>
        </p:txBody>
      </p:sp>
      <p:pic>
        <p:nvPicPr>
          <p:cNvPr id="22" name="Picture 21" descr="A cartoon of a person with his hand on his head">
            <a:extLst>
              <a:ext uri="{FF2B5EF4-FFF2-40B4-BE49-F238E27FC236}">
                <a16:creationId xmlns:a16="http://schemas.microsoft.com/office/drawing/2014/main" id="{89D11236-6C54-D351-233F-3C3627CAD41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390968" y="1381423"/>
            <a:ext cx="6893770" cy="3877746"/>
          </a:xfrm>
          <a:prstGeom prst="rect">
            <a:avLst/>
          </a:prstGeom>
        </p:spPr>
      </p:pic>
      <p:sp>
        <p:nvSpPr>
          <p:cNvPr id="23" name="Rectangle 1">
            <a:extLst>
              <a:ext uri="{FF2B5EF4-FFF2-40B4-BE49-F238E27FC236}">
                <a16:creationId xmlns:a16="http://schemas.microsoft.com/office/drawing/2014/main" id="{CD6A0647-5EF7-84C7-1AFB-989EBCD9E3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" y="3920359"/>
            <a:ext cx="6202680" cy="4355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Promise: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Mass Spectrometry Imaging (MSI) is revolutionizing medicine. It allows us to map the spatial distribution of molecules in tissue, aiding in disease detection (like cancer), drug monitoring, and compound annotation.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Data Structure: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Imagine a digital image, but instead of just Red, Green, and Blue, every single pixel contains a spectrum of thousands of chemical values. This creates a massive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3D Data Cube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(X, Y, m/z) that is sparse, noisy, and incredibly complex.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Bottleneck: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Traditional methods struggle to handle this complexity. We need a way to compress this massive "cube" into essential features without losing the biology</a:t>
            </a:r>
          </a:p>
        </p:txBody>
      </p:sp>
      <p:pic>
        <p:nvPicPr>
          <p:cNvPr id="25" name="Picture 24" descr="A qr code with black squares">
            <a:extLst>
              <a:ext uri="{FF2B5EF4-FFF2-40B4-BE49-F238E27FC236}">
                <a16:creationId xmlns:a16="http://schemas.microsoft.com/office/drawing/2014/main" id="{2B62B8B1-8F52-23C1-E850-9A3847FED0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4447" y="19593274"/>
            <a:ext cx="1672158" cy="1672158"/>
          </a:xfrm>
          <a:prstGeom prst="rect">
            <a:avLst/>
          </a:prstGeom>
        </p:spPr>
      </p:pic>
      <p:sp>
        <p:nvSpPr>
          <p:cNvPr id="27" name="Rectangle 2">
            <a:extLst>
              <a:ext uri="{FF2B5EF4-FFF2-40B4-BE49-F238E27FC236}">
                <a16:creationId xmlns:a16="http://schemas.microsoft.com/office/drawing/2014/main" id="{23E16FBA-04B8-973A-A81B-51A906732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" y="9326705"/>
            <a:ext cx="6202680" cy="5324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eorgia Pro" panose="02040502050405020303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Preprocessing: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We cleaned the raw spectra using binning, Total Ion Current (TIC) normalization, and feature scaling to remove noise and technical artifacts.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Contenders: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We pitted deep learning against traditional math: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Baselines: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PCA (Linear) &amp; NMF (Matrix Factorization).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Challengers: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Deep Autoencoder (AE) &amp; 1D Convolutional Autoencoder (CNN-AE).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Strategy: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We trained the Neural Networks to compress the spectra into a tiny "latent space" (200 features) and then reconstruct them. We used a special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Weighted MSE Loss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to force the AI to focus on chemical peaks, not just empty space.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eorgia Pro" panose="02040502050405020303" pitchFamily="18" charset="0"/>
            </a:endParaRPr>
          </a:p>
        </p:txBody>
      </p:sp>
      <p:pic>
        <p:nvPicPr>
          <p:cNvPr id="6" name="Picture 5" descr="A red and black image">
            <a:extLst>
              <a:ext uri="{FF2B5EF4-FFF2-40B4-BE49-F238E27FC236}">
                <a16:creationId xmlns:a16="http://schemas.microsoft.com/office/drawing/2014/main" id="{609FDC57-E1AB-292A-505E-D3C6C15E54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5060" y="7778615"/>
            <a:ext cx="5729887" cy="4289230"/>
          </a:xfrm>
          <a:prstGeom prst="rect">
            <a:avLst/>
          </a:prstGeom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187106-D0BA-A399-02BC-8987D904AF84}"/>
              </a:ext>
            </a:extLst>
          </p:cNvPr>
          <p:cNvSpPr txBox="1"/>
          <p:nvPr/>
        </p:nvSpPr>
        <p:spPr>
          <a:xfrm>
            <a:off x="7275060" y="12344808"/>
            <a:ext cx="5729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Georgia Pro" panose="02040502050405020303" pitchFamily="18" charset="0"/>
              </a:rPr>
              <a:t>Raw cancer tissue section at m/z ratio 390 Da. </a:t>
            </a:r>
            <a:endParaRPr lang="en-ZA" dirty="0">
              <a:latin typeface="Georgia Pro" panose="02040502050405020303" pitchFamily="18" charset="0"/>
            </a:endParaRPr>
          </a:p>
        </p:txBody>
      </p:sp>
      <p:pic>
        <p:nvPicPr>
          <p:cNvPr id="29" name="Picture 28" descr="A diagram of a network">
            <a:extLst>
              <a:ext uri="{FF2B5EF4-FFF2-40B4-BE49-F238E27FC236}">
                <a16:creationId xmlns:a16="http://schemas.microsoft.com/office/drawing/2014/main" id="{1FAF639F-7D6A-4D8F-CEB8-F97C3102DA5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35156" y="7778615"/>
            <a:ext cx="5295102" cy="4289230"/>
          </a:xfrm>
          <a:prstGeom prst="rect">
            <a:avLst/>
          </a:prstGeom>
          <a:effectLst/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3435AE28-C10D-32C7-1B03-5C21861ED7F5}"/>
              </a:ext>
            </a:extLst>
          </p:cNvPr>
          <p:cNvSpPr txBox="1"/>
          <p:nvPr/>
        </p:nvSpPr>
        <p:spPr>
          <a:xfrm>
            <a:off x="23435156" y="12344808"/>
            <a:ext cx="5729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Georgia Pro" panose="02040502050405020303" pitchFamily="18" charset="0"/>
              </a:rPr>
              <a:t>Autoencoder architecture (</a:t>
            </a:r>
            <a:r>
              <a:rPr lang="en-GB" dirty="0">
                <a:solidFill>
                  <a:srgbClr val="C00000"/>
                </a:solidFill>
                <a:latin typeface="Georgia Pro" panose="02040502050405020303" pitchFamily="18" charset="0"/>
              </a:rPr>
              <a:t>Encoder </a:t>
            </a:r>
            <a:r>
              <a:rPr lang="en-GB" dirty="0">
                <a:latin typeface="Georgia Pro" panose="02040502050405020303" pitchFamily="18" charset="0"/>
              </a:rPr>
              <a:t>-&gt; </a:t>
            </a:r>
            <a:r>
              <a:rPr lang="en-GB" dirty="0">
                <a:solidFill>
                  <a:srgbClr val="0070C0"/>
                </a:solidFill>
                <a:latin typeface="Georgia Pro" panose="02040502050405020303" pitchFamily="18" charset="0"/>
              </a:rPr>
              <a:t>Latent Space</a:t>
            </a:r>
            <a:r>
              <a:rPr lang="en-GB" dirty="0">
                <a:latin typeface="Georgia Pro" panose="02040502050405020303" pitchFamily="18" charset="0"/>
              </a:rPr>
              <a:t> -&gt; </a:t>
            </a:r>
            <a:r>
              <a:rPr lang="en-GB" dirty="0">
                <a:solidFill>
                  <a:srgbClr val="00B050"/>
                </a:solidFill>
                <a:latin typeface="Georgia Pro" panose="02040502050405020303" pitchFamily="18" charset="0"/>
              </a:rPr>
              <a:t>Decoder</a:t>
            </a:r>
            <a:r>
              <a:rPr lang="en-GB" dirty="0">
                <a:latin typeface="Georgia Pro" panose="02040502050405020303" pitchFamily="18" charset="0"/>
              </a:rPr>
              <a:t>) </a:t>
            </a:r>
            <a:endParaRPr lang="en-ZA" dirty="0">
              <a:latin typeface="Georgia Pro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288FEA-AF1B-85D3-0743-E723341A4039}"/>
              </a:ext>
            </a:extLst>
          </p:cNvPr>
          <p:cNvSpPr txBox="1"/>
          <p:nvPr/>
        </p:nvSpPr>
        <p:spPr>
          <a:xfrm>
            <a:off x="15355108" y="12344808"/>
            <a:ext cx="5729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Georgia Pro" panose="02040502050405020303" pitchFamily="18" charset="0"/>
              </a:rPr>
              <a:t>Data Visualization and Preprocessing were instrumental to understanding data. </a:t>
            </a:r>
            <a:endParaRPr lang="en-ZA" dirty="0">
              <a:latin typeface="Georgia Pro" panose="02040502050405020303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838</TotalTime>
  <Words>306</Words>
  <Application>Microsoft Office PowerPoint</Application>
  <PresentationFormat>Custom</PresentationFormat>
  <Paragraphs>22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Georgia Pro</vt:lpstr>
      <vt:lpstr>Liberation Sans</vt:lpstr>
      <vt:lpstr>Liberation Serif</vt:lpstr>
      <vt:lpstr>Noto Sans Bhaiksuki</vt:lpstr>
      <vt:lpstr>Default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Tapiwa Mazarura</dc:creator>
  <cp:lastModifiedBy>Tapiwa Mazarura</cp:lastModifiedBy>
  <cp:revision>10</cp:revision>
  <dcterms:created xsi:type="dcterms:W3CDTF">2025-11-23T14:18:29Z</dcterms:created>
  <dcterms:modified xsi:type="dcterms:W3CDTF">2025-11-25T10:49:17Z</dcterms:modified>
</cp:coreProperties>
</file>