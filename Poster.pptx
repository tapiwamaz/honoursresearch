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30284738" cy="21388388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725" y="-9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3E6458-1C35-772C-4BA9-C3EFA0164F9D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B22D0B8-7202-F9C8-5A55-FB4C1BE52497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13333F-A243-CD95-771E-4FF70BCDC5C2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7A9BDC4-8463-4FF1-2C0C-85E781658493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="b" anchorCtr="0" compatLnSpc="0">
            <a:noAutofit/>
          </a:bodyPr>
          <a:lstStyle/>
          <a:p>
            <a:pPr marL="0" marR="0" lvl="0" indent="0" algn="r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/>
            </a:pPr>
            <a:fld id="{26EB633B-3FE5-436E-B716-63BA77164418}" type="slidenum">
              <a:t>‹#›</a:t>
            </a:fld>
            <a:endParaRPr lang="en-US" sz="14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</p:spTree>
    <p:extLst>
      <p:ext uri="{BB962C8B-B14F-4D97-AF65-F5344CB8AC3E}">
        <p14:creationId xmlns:p14="http://schemas.microsoft.com/office/powerpoint/2010/main" val="206019573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078DD73-D1BB-DB00-9CCE-464FA69471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6000" y="812520"/>
            <a:ext cx="7127279" cy="4008959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lIns="0" tIns="0" rIns="0" bIns="0" anchor="ctr"/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9A6BBE5-7F00-8DE6-EAD5-6A18828B661B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/>
          <a:lstStyle/>
          <a:p>
            <a:endParaRPr lang="en-US"/>
          </a:p>
        </p:txBody>
      </p:sp>
      <p:sp>
        <p:nvSpPr>
          <p:cNvPr id="4" name="Header Placeholder 3">
            <a:extLst>
              <a:ext uri="{FF2B5EF4-FFF2-40B4-BE49-F238E27FC236}">
                <a16:creationId xmlns:a16="http://schemas.microsoft.com/office/drawing/2014/main" id="{8FD99038-B55C-2B36-7BA9-17FC917550D3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0541CF-A4C3-588D-6470-66C26C6BB9C9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5E135F-834F-BB78-EF46-B86FFA83DCAF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C73560-64E3-7F24-AB19-0C2D26CFF8C0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="b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BC615A1A-1DCC-4D56-A895-25D149B35AA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93402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6000" marR="0" indent="-216000" rtl="0" hangingPunct="0">
      <a:tabLst/>
      <a:defRPr lang="en-US" sz="2000" b="0" i="0" u="none" strike="noStrike" kern="1200" cap="none">
        <a:ln>
          <a:noFill/>
        </a:ln>
        <a:highlight>
          <a:scrgbClr r="0" g="0" b="0">
            <a:alpha val="0"/>
          </a:scrgbClr>
        </a:highlight>
        <a:latin typeface="Liberation Sans" pitchFamily="18"/>
        <a:cs typeface="Noto Sans Devanagari" pitchFamily="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64F12B9-E436-F7A1-99C0-004886AE538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ln/>
        </p:spPr>
        <p:txBody>
          <a:bodyPr vert="horz" lIns="0" tIns="0" rIns="0" bIns="0" anchor="b" anchorCtr="0">
            <a:noAutofit/>
          </a:bodyPr>
          <a:lstStyle/>
          <a:p>
            <a:pPr lvl="0"/>
            <a:fld id="{D948E76E-E824-466D-B4F7-8C7B174B11E7}" type="slidenum">
              <a:t>1</a:t>
            </a:fld>
            <a:endParaRPr lang="en-US"/>
          </a:p>
        </p:txBody>
      </p:sp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E982EBB-BA55-67E0-56A3-C145B9EB7D2B}"/>
              </a:ext>
            </a:extLst>
          </p:cNvPr>
          <p:cNvSpPr>
            <a:spLocks noGrp="1" noRot="1" noChangeAspect="1" noResize="1"/>
          </p:cNvSpPr>
          <p:nvPr>
            <p:ph type="sldImg"/>
          </p:nvPr>
        </p:nvSpPr>
        <p:spPr>
          <a:xfrm>
            <a:off x="941388" y="812800"/>
            <a:ext cx="5676900" cy="4008438"/>
          </a:xfrm>
          <a:solidFill>
            <a:srgbClr val="729FCF"/>
          </a:solidFill>
          <a:ln w="25400">
            <a:solidFill>
              <a:srgbClr val="3465A4"/>
            </a:solidFill>
            <a:prstDash val="solid"/>
          </a:ln>
        </p:spPr>
        <p:txBody>
          <a:bodyPr vert="horz" wrap="none" compatLnSpc="0">
            <a:noAutofit/>
          </a:bodyPr>
          <a:lstStyle/>
          <a:p>
            <a:endParaRPr lang="en-Z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7A48C32-15E0-5868-3637-0B4AAB3CB3F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 vert="horz">
            <a:spAutoFit/>
          </a:bodyPr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20AE1A-DD24-5695-6037-30547029E1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786188" y="3500438"/>
            <a:ext cx="22712362" cy="7446962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ECE79C-758F-F9F4-1B0B-8595E4FF6B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786188" y="11233150"/>
            <a:ext cx="22712362" cy="5164138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2B16A2-8D9C-F9D5-9440-FFCA49339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62FCE9-9686-EE5D-9037-5B40AF282F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A2DBD8-D443-3839-688C-450837792C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0B137E5-E643-4EAD-AAF1-C7FFE2CFC08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0347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C37481-C69F-E314-794D-C992E577D8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D68072-FDA6-9083-BF0A-C3370EB1E9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24F164-D139-28BC-132B-FD9A8EC90E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7D8784-D591-A3FA-272D-01DDE19B23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008937-B214-3BA0-B7F2-27970A0F49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BF350353-1721-41A0-8DB1-F28A1B01C15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3380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07545-89A3-AC06-47EC-BD31743B33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66925" y="5332413"/>
            <a:ext cx="26120725" cy="8896350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FF8514-CF6D-1F3C-E9CB-72972A8BE9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66925" y="14312900"/>
            <a:ext cx="26120725" cy="4679950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FA8F9-0007-CC80-81B4-B7F98BD77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B957BB-9E40-DC82-AD55-18933E56A2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0E914-FF69-B2D7-DE4F-0A9CB968AF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5B2B5972-B019-4860-B0D6-3F4DA63F1E0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9999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9B7D3-8ADA-CAE1-AFB9-951D61CD77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8E85B5-0EB3-E87F-C334-2F81F93E11C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514475" y="5003800"/>
            <a:ext cx="13550900" cy="1240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AEAF97D-B17B-266F-DCC2-4FABCDAB234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5217775" y="5003800"/>
            <a:ext cx="13550900" cy="124031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9BD9C4-0A82-8494-B4F0-F6FD636366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ECFE63-8168-A1F6-16FB-41068B4678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919945-E504-0034-5B3A-B2F1BC8BF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F21CF81-012D-42AB-939C-960E35D129B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6377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00BAF-1E2D-6C25-E67F-DB177BBFF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138238"/>
            <a:ext cx="26120725" cy="41338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81B678-1564-949D-A1C3-D01F35A194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85975" y="5243513"/>
            <a:ext cx="12811125" cy="2568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1085096-8386-7346-05F3-3A998A55414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085975" y="7812088"/>
            <a:ext cx="12811125" cy="11491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171102F-D3E5-1A2B-5DB1-D998B203B9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5332075" y="5243513"/>
            <a:ext cx="12874625" cy="256857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6F44EC3-EFFC-0836-5625-E361394B348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5332075" y="7812088"/>
            <a:ext cx="12874625" cy="114919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1D8693C-5A55-FDE2-2D12-4DFBE95E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BB5418E-D324-FAC2-C115-AAF4FB9213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717D0F-45E3-B1C2-1FF4-872CB3542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B9EB354-ABE8-4439-99EE-506D6F6946B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715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86E9A-A72C-9C36-4F5E-F8967109A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A7FFB5-735D-979E-F632-8AF4B15108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FC66C70-C746-8532-3910-0FD2E78096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836801-9BBF-F8DC-BD39-777C7E741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61EE542F-6107-47A5-B2D8-4C8BBE16CD1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09141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0701CE-C559-D6C2-A3DE-67DFF46614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1EA80D2-4171-AEB7-BD60-E6BF9178AB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DB4EC1-A099-4243-B93C-A1EFAA80FE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EB1B1190-4734-46A0-AFEC-E82674EB34E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19100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3ECB47-D78D-48CB-3722-A19EF00DDD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425575"/>
            <a:ext cx="9767888" cy="49911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7A21AE-D938-DA1F-21C5-3F404D768B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4625" y="3079750"/>
            <a:ext cx="15332075" cy="151987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8B06A5-EFA5-0A68-6898-60FD402A71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975" y="6416675"/>
            <a:ext cx="9767888" cy="1188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708879-244D-8C2E-305A-1FD14E89E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9D7657-3D52-DE5A-3D68-BA70B6B7B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3C0AA1-4521-E744-E302-C1332734BC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06A2802A-1B53-44FE-9DCC-61DD5224936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72719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65472-7187-FF1B-9FA2-5A658CE708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85975" y="1425575"/>
            <a:ext cx="9767888" cy="49911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7E105A5-FBB3-3304-8CA3-5A53F802C22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2874625" y="3079750"/>
            <a:ext cx="15332075" cy="151987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Z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6F5B915-8209-071E-8EBF-099D63E1C3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085975" y="6416675"/>
            <a:ext cx="9767888" cy="11887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D1E0AB-1D8F-5B5C-C931-C646D7358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63A006-6C62-87C8-D363-E52505C989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E4D6DFD-F264-A043-9D88-AEA9A0F37F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D1A31ED3-F2A4-4ABC-9CE8-16A16D6EA75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16709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0818C9-F153-225C-7977-9109A6B060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8714C8-06A4-C7A1-F838-79D6D2568B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F74689-2E39-7F33-38E9-43706E4DC7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0C25D0-E117-6A7A-AB50-291835C727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AFC7C4-618A-B664-859B-24CD9839E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71221E77-FE18-4414-8226-A9E5BAC5713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42992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6FB6DA-A672-E4F1-CB90-1C2EE7E7AF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1955125" y="852488"/>
            <a:ext cx="6813550" cy="1655445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Z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B18725-3A94-B543-AAAC-8D2756C8C7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514475" y="852488"/>
            <a:ext cx="20288250" cy="16554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Z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5E2AA4F-B277-C5B2-5648-DAE6A39A3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23C117-832E-7ED9-A622-DDB614020A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AC6D04-951D-83F8-C6CE-015D56DD4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2FD131EF-998C-4F7B-968D-F537D223C48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63120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63FE776-EA77-1784-B836-2E663C6993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513800" y="852480"/>
            <a:ext cx="27255600" cy="357012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 anchor="ctr"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C40552E-75E3-DDA9-2555-FCDBA13BA42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1513800" y="5003640"/>
            <a:ext cx="27255600" cy="12403800"/>
          </a:xfrm>
          <a:prstGeom prst="rect">
            <a:avLst/>
          </a:prstGeom>
          <a:noFill/>
          <a:ln>
            <a:noFill/>
          </a:ln>
        </p:spPr>
        <p:txBody>
          <a:bodyPr lIns="0" tIns="0" rIns="0" bIns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16F73F-3B2B-6C56-3709-6340CB4209A7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1513800" y="19483560"/>
            <a:ext cx="7055280" cy="14734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B26712-188B-5D86-3F56-9B1CE5AFD0CB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10356840" y="19483560"/>
            <a:ext cx="9599040" cy="14734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ct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67644B1-CBD0-316B-4D26-E788D6D00DBA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21713760" y="19483560"/>
            <a:ext cx="7055280" cy="1473480"/>
          </a:xfrm>
          <a:prstGeom prst="rect">
            <a:avLst/>
          </a:prstGeom>
          <a:noFill/>
          <a:ln>
            <a:noFill/>
          </a:ln>
        </p:spPr>
        <p:txBody>
          <a:bodyPr vert="horz" lIns="0" tIns="0" rIns="0" bIns="0" anchorCtr="0">
            <a:noAutofit/>
          </a:bodyPr>
          <a:lstStyle>
            <a:lvl1pPr lvl="0" algn="r" rtl="0" hangingPunct="0">
              <a:buNone/>
              <a:tabLst/>
              <a:defRPr lang="en-US" sz="1400" kern="1200">
                <a:latin typeface="Liberation Serif" pitchFamily="18"/>
                <a:ea typeface="DejaVu Sans" pitchFamily="2"/>
                <a:cs typeface="Noto Sans" pitchFamily="2"/>
              </a:defRPr>
            </a:lvl1pPr>
          </a:lstStyle>
          <a:p>
            <a:pPr lvl="0"/>
            <a:fld id="{6488C6C1-9447-406A-83A4-217DF073D32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hangingPunct="0">
        <a:tabLst/>
        <a:defRPr lang="en-US" sz="1659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</p:titleStyle>
    <p:bodyStyle>
      <a:lvl1pPr marL="0" marR="0" indent="0" rtl="0" hangingPunct="0">
        <a:spcBef>
          <a:spcPts val="5343"/>
        </a:spcBef>
        <a:spcAft>
          <a:spcPts val="0"/>
        </a:spcAft>
        <a:tabLst/>
        <a:defRPr lang="en-US" sz="12070" b="0" i="0" u="none" strike="noStrike" kern="1200" cap="none">
          <a:ln>
            <a:noFill/>
          </a:ln>
          <a:highlight>
            <a:scrgbClr r="0" g="0" b="0">
              <a:alpha val="0"/>
            </a:scrgbClr>
          </a:highlight>
          <a:latin typeface="Liberation Sans" pitchFamily="18"/>
          <a:cs typeface="Noto Sans Devanagari" pitchFamily="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13" Type="http://schemas.openxmlformats.org/officeDocument/2006/relationships/image" Target="../media/image10.png"/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microsoft.com/office/2007/relationships/hdphoto" Target="../media/hdphoto1.wdp"/><Relationship Id="rId11" Type="http://schemas.openxmlformats.org/officeDocument/2006/relationships/image" Target="../media/image8.jpg"/><Relationship Id="rId5" Type="http://schemas.openxmlformats.org/officeDocument/2006/relationships/image" Target="../media/image3.png"/><Relationship Id="rId15" Type="http://schemas.openxmlformats.org/officeDocument/2006/relationships/image" Target="../media/image12.svg"/><Relationship Id="rId10" Type="http://schemas.openxmlformats.org/officeDocument/2006/relationships/image" Target="../media/image7.png"/><Relationship Id="rId4" Type="http://schemas.openxmlformats.org/officeDocument/2006/relationships/image" Target="../media/image2.svg"/><Relationship Id="rId9" Type="http://schemas.openxmlformats.org/officeDocument/2006/relationships/image" Target="../media/image6.png"/><Relationship Id="rId1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89F07E72-103C-50B8-1282-4F4CEF6E6D1A}"/>
              </a:ext>
            </a:extLst>
          </p:cNvPr>
          <p:cNvSpPr/>
          <p:nvPr/>
        </p:nvSpPr>
        <p:spPr>
          <a:xfrm>
            <a:off x="6868440" y="-4176840"/>
            <a:ext cx="24725879" cy="11309160"/>
          </a:xfrm>
          <a:custGeom>
            <a:avLst>
              <a:gd name="f0" fmla="val 3809"/>
            </a:avLst>
            <a:gdLst>
              <a:gd name="f1" fmla="val 10800000"/>
              <a:gd name="f2" fmla="val 5400000"/>
              <a:gd name="f3" fmla="val 16200000"/>
              <a:gd name="f4" fmla="val w"/>
              <a:gd name="f5" fmla="val h"/>
              <a:gd name="f6" fmla="val ss"/>
              <a:gd name="f7" fmla="val 0"/>
              <a:gd name="f8" fmla="*/ 5419351 1 1725033"/>
              <a:gd name="f9" fmla="val 45"/>
              <a:gd name="f10" fmla="val 10800"/>
              <a:gd name="f11" fmla="val -2147483647"/>
              <a:gd name="f12" fmla="val 2147483647"/>
              <a:gd name="f13" fmla="abs f4"/>
              <a:gd name="f14" fmla="abs f5"/>
              <a:gd name="f15" fmla="abs f6"/>
              <a:gd name="f16" fmla="*/ f8 1 180"/>
              <a:gd name="f17" fmla="pin 0 f0 10800"/>
              <a:gd name="f18" fmla="+- 0 0 f2"/>
              <a:gd name="f19" fmla="?: f13 f4 1"/>
              <a:gd name="f20" fmla="?: f14 f5 1"/>
              <a:gd name="f21" fmla="?: f15 f6 1"/>
              <a:gd name="f22" fmla="*/ f9 f16 1"/>
              <a:gd name="f23" fmla="+- f7 f17 0"/>
              <a:gd name="f24" fmla="*/ f19 1 21600"/>
              <a:gd name="f25" fmla="*/ f20 1 21600"/>
              <a:gd name="f26" fmla="*/ 21600 f19 1"/>
              <a:gd name="f27" fmla="*/ 21600 f20 1"/>
              <a:gd name="f28" fmla="+- 0 0 f22"/>
              <a:gd name="f29" fmla="min f25 f24"/>
              <a:gd name="f30" fmla="*/ f26 1 f21"/>
              <a:gd name="f31" fmla="*/ f27 1 f21"/>
              <a:gd name="f32" fmla="*/ f28 f1 1"/>
              <a:gd name="f33" fmla="*/ f32 1 f8"/>
              <a:gd name="f34" fmla="+- f31 0 f17"/>
              <a:gd name="f35" fmla="+- f30 0 f17"/>
              <a:gd name="f36" fmla="*/ f17 f29 1"/>
              <a:gd name="f37" fmla="*/ f7 f29 1"/>
              <a:gd name="f38" fmla="*/ f23 f29 1"/>
              <a:gd name="f39" fmla="*/ f31 f29 1"/>
              <a:gd name="f40" fmla="*/ f30 f29 1"/>
              <a:gd name="f41" fmla="+- f33 0 f2"/>
              <a:gd name="f42" fmla="+- f37 0 f38"/>
              <a:gd name="f43" fmla="+- f38 0 f37"/>
              <a:gd name="f44" fmla="*/ f34 f29 1"/>
              <a:gd name="f45" fmla="*/ f35 f29 1"/>
              <a:gd name="f46" fmla="cos 1 f41"/>
              <a:gd name="f47" fmla="abs f42"/>
              <a:gd name="f48" fmla="abs f43"/>
              <a:gd name="f49" fmla="?: f42 f18 f2"/>
              <a:gd name="f50" fmla="?: f42 f2 f18"/>
              <a:gd name="f51" fmla="?: f42 f3 f2"/>
              <a:gd name="f52" fmla="?: f42 f2 f3"/>
              <a:gd name="f53" fmla="+- f39 0 f44"/>
              <a:gd name="f54" fmla="?: f43 f18 f2"/>
              <a:gd name="f55" fmla="?: f43 f2 f18"/>
              <a:gd name="f56" fmla="+- f40 0 f45"/>
              <a:gd name="f57" fmla="+- f44 0 f39"/>
              <a:gd name="f58" fmla="+- f45 0 f40"/>
              <a:gd name="f59" fmla="?: f42 0 f1"/>
              <a:gd name="f60" fmla="?: f42 f1 0"/>
              <a:gd name="f61" fmla="+- 0 0 f46"/>
              <a:gd name="f62" fmla="?: f42 f52 f51"/>
              <a:gd name="f63" fmla="?: f42 f51 f52"/>
              <a:gd name="f64" fmla="?: f43 f50 f49"/>
              <a:gd name="f65" fmla="abs f53"/>
              <a:gd name="f66" fmla="?: f53 0 f1"/>
              <a:gd name="f67" fmla="?: f53 f1 0"/>
              <a:gd name="f68" fmla="?: f53 f54 f55"/>
              <a:gd name="f69" fmla="abs f56"/>
              <a:gd name="f70" fmla="abs f57"/>
              <a:gd name="f71" fmla="?: f56 f18 f2"/>
              <a:gd name="f72" fmla="?: f56 f2 f18"/>
              <a:gd name="f73" fmla="?: f56 f3 f2"/>
              <a:gd name="f74" fmla="?: f56 f2 f3"/>
              <a:gd name="f75" fmla="abs f58"/>
              <a:gd name="f76" fmla="?: f58 f18 f2"/>
              <a:gd name="f77" fmla="?: f58 f2 f18"/>
              <a:gd name="f78" fmla="?: f58 f60 f59"/>
              <a:gd name="f79" fmla="?: f58 f59 f60"/>
              <a:gd name="f80" fmla="*/ f17 f61 1"/>
              <a:gd name="f81" fmla="?: f43 f63 f62"/>
              <a:gd name="f82" fmla="?: f43 f67 f66"/>
              <a:gd name="f83" fmla="?: f43 f66 f67"/>
              <a:gd name="f84" fmla="?: f56 f74 f73"/>
              <a:gd name="f85" fmla="?: f56 f73 f74"/>
              <a:gd name="f86" fmla="?: f57 f72 f71"/>
              <a:gd name="f87" fmla="?: f42 f78 f79"/>
              <a:gd name="f88" fmla="?: f42 f76 f77"/>
              <a:gd name="f89" fmla="*/ f80 3163 1"/>
              <a:gd name="f90" fmla="?: f53 f82 f83"/>
              <a:gd name="f91" fmla="?: f57 f85 f84"/>
              <a:gd name="f92" fmla="*/ f89 1 7636"/>
              <a:gd name="f93" fmla="+- f7 f92 0"/>
              <a:gd name="f94" fmla="+- f30 0 f92"/>
              <a:gd name="f95" fmla="+- f31 0 f92"/>
              <a:gd name="f96" fmla="*/ f93 f29 1"/>
              <a:gd name="f97" fmla="*/ f94 f29 1"/>
              <a:gd name="f98" fmla="*/ f95 f29 1"/>
            </a:gdLst>
            <a:ahLst>
              <a:ahXY gdRefX="f0" minX="f7" maxX="f10">
                <a:pos x="f36" y="f37"/>
              </a:ahXY>
            </a:ahLst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f96" t="f96" r="f97" b="f98"/>
            <a:pathLst>
              <a:path>
                <a:moveTo>
                  <a:pt x="f38" y="f37"/>
                </a:moveTo>
                <a:arcTo wR="f47" hR="f48" stAng="f81" swAng="f64"/>
                <a:lnTo>
                  <a:pt x="f37" y="f44"/>
                </a:lnTo>
                <a:arcTo wR="f48" hR="f65" stAng="f90" swAng="f68"/>
                <a:lnTo>
                  <a:pt x="f45" y="f39"/>
                </a:lnTo>
                <a:arcTo wR="f69" hR="f70" stAng="f91" swAng="f86"/>
                <a:lnTo>
                  <a:pt x="f40" y="f38"/>
                </a:lnTo>
                <a:arcTo wR="f75" hR="f47" stAng="f87" swAng="f88"/>
                <a:close/>
              </a:path>
            </a:pathLst>
          </a:custGeom>
          <a:solidFill>
            <a:srgbClr val="BC0F26"/>
          </a:solidFill>
          <a:ln cap="rnd">
            <a:noFill/>
            <a:prstDash val="solid"/>
          </a:ln>
          <a:effectLst>
            <a:innerShdw blurRad="114300">
              <a:prstClr val="black"/>
            </a:innerShdw>
          </a:effectLst>
        </p:spPr>
        <p:txBody>
          <a:bodyPr vert="horz" wrap="square" lIns="93240" tIns="48240" rIns="93240" bIns="48240" anchor="ctr" anchorCtr="0" compatLnSpc="0">
            <a:noAutofit/>
          </a:bodyPr>
          <a:lstStyle/>
          <a:p>
            <a:pPr marL="0" marR="0" lvl="0" indent="0" algn="l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6000">
                <a:latin typeface="Noto Sans Bhaiksuki" pitchFamily="34"/>
              </a:defRPr>
            </a:pPr>
            <a:endParaRPr lang="en-US" sz="6000" b="0" i="0" u="none" strike="noStrike" kern="1200" cap="none">
              <a:ln>
                <a:noFill/>
              </a:ln>
              <a:latin typeface="Noto Sans Bhaiksuki" pitchFamily="34"/>
              <a:ea typeface="Noto Sans CJK SC" pitchFamily="2"/>
              <a:cs typeface="Noto Sans Devanagari" pitchFamily="2"/>
            </a:endParaRPr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C47AF38-9DD7-77F1-9754-93B6C8694D2C}"/>
              </a:ext>
            </a:extLst>
          </p:cNvPr>
          <p:cNvSpPr/>
          <p:nvPr/>
        </p:nvSpPr>
        <p:spPr>
          <a:xfrm>
            <a:off x="0" y="0"/>
            <a:ext cx="6868440" cy="21387959"/>
          </a:xfrm>
          <a:custGeom>
            <a:avLst/>
            <a:gdLst>
              <a:gd name="f0" fmla="val 0"/>
              <a:gd name="f1" fmla="val 21600"/>
            </a:gdLst>
            <a:ahLst/>
            <a:cxnLst>
              <a:cxn ang="3cd4">
                <a:pos x="hc" y="t"/>
              </a:cxn>
              <a:cxn ang="0">
                <a:pos x="r" y="vc"/>
              </a:cxn>
              <a:cxn ang="cd4">
                <a:pos x="hc" y="b"/>
              </a:cxn>
              <a:cxn ang="cd2">
                <a:pos x="l" y="vc"/>
              </a:cxn>
            </a:cxnLst>
            <a:rect l="l" t="t" r="r" b="b"/>
            <a:pathLst>
              <a:path w="21600" h="21600">
                <a:moveTo>
                  <a:pt x="f0" y="f0"/>
                </a:moveTo>
                <a:lnTo>
                  <a:pt x="f1" y="f0"/>
                </a:lnTo>
                <a:lnTo>
                  <a:pt x="f1" y="f1"/>
                </a:lnTo>
                <a:lnTo>
                  <a:pt x="f0" y="f1"/>
                </a:lnTo>
                <a:lnTo>
                  <a:pt x="f0" y="f0"/>
                </a:lnTo>
                <a:close/>
              </a:path>
            </a:pathLst>
          </a:custGeom>
          <a:solidFill>
            <a:srgbClr val="E6F0F0"/>
          </a:solidFill>
          <a:ln w="0" cap="rnd">
            <a:solidFill>
              <a:srgbClr val="000000">
                <a:alpha val="0"/>
              </a:srgbClr>
            </a:solidFill>
            <a:prstDash val="solid"/>
            <a:miter/>
          </a:ln>
        </p:spPr>
        <p:txBody>
          <a:bodyPr vert="horz" wrap="square" lIns="90000" tIns="45000" rIns="90000" bIns="45000" anchor="ctr" anchorCtr="0" compatLnSpc="0">
            <a:no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</a:pPr>
            <a:endParaRPr lang="en-US" sz="1800" b="0" i="0" u="none" strike="noStrike" kern="1200" cap="none">
              <a:ln>
                <a:noFill/>
              </a:ln>
              <a:latin typeface="Liberation Sans" pitchFamily="18"/>
              <a:ea typeface="Noto Sans CJK SC" pitchFamily="2"/>
              <a:cs typeface="Noto Sans Devanagari" pitchFamily="2"/>
            </a:endParaRP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371A014E-A79D-92A1-9C42-CFD1C04802D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10000"/>
            <a:grayscl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p:blipFill>
        <p:spPr>
          <a:xfrm>
            <a:off x="11445240" y="457200"/>
            <a:ext cx="5806440" cy="580644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6EC319A-7144-900D-39AD-C772DAF7226D}"/>
              </a:ext>
            </a:extLst>
          </p:cNvPr>
          <p:cNvSpPr txBox="1"/>
          <p:nvPr/>
        </p:nvSpPr>
        <p:spPr>
          <a:xfrm>
            <a:off x="8018503" y="2027718"/>
            <a:ext cx="1658112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7000" dirty="0">
                <a:solidFill>
                  <a:schemeClr val="bg1"/>
                </a:solidFill>
                <a:latin typeface="Georgia Pro" panose="02040502050405020303" pitchFamily="18" charset="0"/>
                <a:cs typeface="Aharoni" panose="020F0502020204030204" pitchFamily="2" charset="-79"/>
              </a:rPr>
              <a:t>Can neural networks extract biological information from mass spectrometry data?</a:t>
            </a:r>
            <a:endParaRPr lang="en-ZA" sz="7000" dirty="0">
              <a:solidFill>
                <a:schemeClr val="bg1"/>
              </a:solidFill>
              <a:latin typeface="Georgia Pro" panose="02040502050405020303" pitchFamily="18" charset="0"/>
              <a:cs typeface="Aharoni" panose="020F0502020204030204" pitchFamily="2" charset="-79"/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7EC7E40-8901-9066-505B-18524172FBC2}"/>
              </a:ext>
            </a:extLst>
          </p:cNvPr>
          <p:cNvSpPr/>
          <p:nvPr/>
        </p:nvSpPr>
        <p:spPr>
          <a:xfrm>
            <a:off x="-406620" y="2866105"/>
            <a:ext cx="4856700" cy="100584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4000" dirty="0">
                <a:solidFill>
                  <a:schemeClr val="bg1"/>
                </a:solidFill>
                <a:latin typeface="Georgia Pro" panose="02040502050405020303" pitchFamily="18" charset="0"/>
              </a:rPr>
              <a:t>	Background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678D4F56-9061-B9E7-5EF8-DBEE68D6409E}"/>
              </a:ext>
            </a:extLst>
          </p:cNvPr>
          <p:cNvSpPr/>
          <p:nvPr/>
        </p:nvSpPr>
        <p:spPr>
          <a:xfrm>
            <a:off x="-406620" y="8588400"/>
            <a:ext cx="4856700" cy="100584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4000" dirty="0">
                <a:solidFill>
                  <a:schemeClr val="bg1"/>
                </a:solidFill>
                <a:latin typeface="Georgia Pro" panose="02040502050405020303" pitchFamily="18" charset="0"/>
              </a:rPr>
              <a:t>	Methods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6E6EB86-8E55-4D0F-9663-7F907ADF2F0C}"/>
              </a:ext>
            </a:extLst>
          </p:cNvPr>
          <p:cNvSpPr/>
          <p:nvPr/>
        </p:nvSpPr>
        <p:spPr>
          <a:xfrm>
            <a:off x="-406620" y="14988179"/>
            <a:ext cx="4856700" cy="1005840"/>
          </a:xfrm>
          <a:prstGeom prst="roundRect">
            <a:avLst/>
          </a:prstGeom>
          <a:solidFill>
            <a:srgbClr val="C00000"/>
          </a:solidFill>
          <a:ln>
            <a:noFill/>
          </a:ln>
          <a:effectLst>
            <a:innerShdw blurRad="114300">
              <a:prstClr val="black"/>
            </a:inn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ZA" sz="4000" dirty="0">
                <a:solidFill>
                  <a:schemeClr val="bg1"/>
                </a:solidFill>
                <a:latin typeface="Georgia Pro" panose="02040502050405020303" pitchFamily="18" charset="0"/>
              </a:rPr>
              <a:t>	Results</a:t>
            </a:r>
          </a:p>
        </p:txBody>
      </p:sp>
      <p:pic>
        <p:nvPicPr>
          <p:cNvPr id="13" name="Picture 12" descr="A stick figure waving with one hand">
            <a:extLst>
              <a:ext uri="{FF2B5EF4-FFF2-40B4-BE49-F238E27FC236}">
                <a16:creationId xmlns:a16="http://schemas.microsoft.com/office/drawing/2014/main" id="{CB11A94A-1F8D-8A95-9191-6D9F9EC03FD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>
                        <a14:foregroundMark x1="48805" y1="37730" x2="48805" y2="37730"/>
                        <a14:foregroundMark x1="50376" y1="38147" x2="50376" y2="38147"/>
                        <a14:foregroundMark x1="50376" y1="41444" x2="50376" y2="41444"/>
                        <a14:foregroundMark x1="48919" y1="32972" x2="48919" y2="32972"/>
                        <a14:foregroundMark x1="48350" y1="33598" x2="48350" y2="33598"/>
                        <a14:foregroundMark x1="46779" y1="35058" x2="46005" y2="36686"/>
                        <a14:foregroundMark x1="51172" y1="38982" x2="51172" y2="38982"/>
                        <a14:foregroundMark x1="48463" y1="37521" x2="48463" y2="37521"/>
                        <a14:foregroundMark x1="50489" y1="38147" x2="50489" y2="38147"/>
                        <a14:foregroundMark x1="50489" y1="37521" x2="50717" y2="38147"/>
                        <a14:backgroundMark x1="50717" y1="70743" x2="50717" y2="63898"/>
                        <a14:backgroundMark x1="56340" y1="37730" x2="56340" y2="37730"/>
                        <a14:backgroundMark x1="45208" y1="60434" x2="45208" y2="60434"/>
                        <a14:backgroundMark x1="46665" y1="38982" x2="46665" y2="38982"/>
                        <a14:backgroundMark x1="49602" y1="42905" x2="49602" y2="429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297663" y="-217214"/>
            <a:ext cx="3806906" cy="2076494"/>
          </a:xfrm>
          <a:prstGeom prst="rect">
            <a:avLst/>
          </a:prstGeom>
        </p:spPr>
      </p:pic>
      <p:pic>
        <p:nvPicPr>
          <p:cNvPr id="15" name="Picture 14" descr="A cartoon mouse with a black background">
            <a:extLst>
              <a:ext uri="{FF2B5EF4-FFF2-40B4-BE49-F238E27FC236}">
                <a16:creationId xmlns:a16="http://schemas.microsoft.com/office/drawing/2014/main" id="{1D838427-3811-60E3-2D7F-33502C3ED6A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0258" y="19593273"/>
            <a:ext cx="1554480" cy="179468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1B98A916-12C7-330D-E263-D1611D3DCDDC}"/>
              </a:ext>
            </a:extLst>
          </p:cNvPr>
          <p:cNvSpPr txBox="1"/>
          <p:nvPr/>
        </p:nvSpPr>
        <p:spPr>
          <a:xfrm>
            <a:off x="990600" y="365760"/>
            <a:ext cx="573024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500" dirty="0">
                <a:solidFill>
                  <a:schemeClr val="bg2">
                    <a:lumMod val="50000"/>
                  </a:schemeClr>
                </a:solidFill>
                <a:latin typeface="Georgia Pro" panose="02040502050405020303" pitchFamily="18" charset="0"/>
              </a:rPr>
              <a:t>Presenter</a:t>
            </a:r>
          </a:p>
          <a:p>
            <a:r>
              <a:rPr lang="en-ZA" sz="3500" dirty="0">
                <a:latin typeface="Georgia Pro" panose="02040502050405020303" pitchFamily="18" charset="0"/>
              </a:rPr>
              <a:t>Tapiwa Mazarura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370D3DD-EE10-1D61-C994-D3ECFF46B211}"/>
              </a:ext>
            </a:extLst>
          </p:cNvPr>
          <p:cNvSpPr txBox="1"/>
          <p:nvPr/>
        </p:nvSpPr>
        <p:spPr>
          <a:xfrm>
            <a:off x="0" y="1493520"/>
            <a:ext cx="6720840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ZA" sz="2000" dirty="0">
                <a:solidFill>
                  <a:schemeClr val="bg2">
                    <a:lumMod val="50000"/>
                  </a:schemeClr>
                </a:solidFill>
                <a:latin typeface="Georgia Pro" panose="02040502050405020303" pitchFamily="18" charset="0"/>
              </a:rPr>
              <a:t>Supervisors:</a:t>
            </a:r>
          </a:p>
          <a:p>
            <a:r>
              <a:rPr lang="en-ZA" sz="2300" dirty="0">
                <a:latin typeface="Georgia Pro" panose="02040502050405020303" pitchFamily="18" charset="0"/>
              </a:rPr>
              <a:t>	Dr Devon Jarvis</a:t>
            </a:r>
          </a:p>
          <a:p>
            <a:r>
              <a:rPr lang="en-ZA" sz="2300" dirty="0">
                <a:latin typeface="Georgia Pro" panose="02040502050405020303" pitchFamily="18" charset="0"/>
              </a:rPr>
              <a:t>	Dr Hairong Bau</a:t>
            </a:r>
          </a:p>
        </p:txBody>
      </p:sp>
      <p:pic>
        <p:nvPicPr>
          <p:cNvPr id="22" name="Picture 21" descr="A cartoon of a person with his hand on his head">
            <a:extLst>
              <a:ext uri="{FF2B5EF4-FFF2-40B4-BE49-F238E27FC236}">
                <a16:creationId xmlns:a16="http://schemas.microsoft.com/office/drawing/2014/main" id="{89D11236-6C54-D351-233F-3C3627CAD41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23390968" y="1381423"/>
            <a:ext cx="6893770" cy="3877746"/>
          </a:xfrm>
          <a:prstGeom prst="rect">
            <a:avLst/>
          </a:prstGeom>
        </p:spPr>
      </p:pic>
      <p:sp>
        <p:nvSpPr>
          <p:cNvPr id="23" name="Rectangle 1">
            <a:extLst>
              <a:ext uri="{FF2B5EF4-FFF2-40B4-BE49-F238E27FC236}">
                <a16:creationId xmlns:a16="http://schemas.microsoft.com/office/drawing/2014/main" id="{CD6A0647-5EF7-84C7-1AFB-989EBCD9E3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3920359"/>
            <a:ext cx="6202680" cy="4355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The Promise: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Mass Spectrometry Imaging (MSI) is revolutionizing medicine. It allows us to map the spatial distribution of molecules in tissue, aiding in disease detection (like cancer), drug monitoring, and compound annotation.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The Data Structure: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Imagine a digital image, but instead of just Red, Green, and Blue, every single pixel contains a spectrum of thousands of chemical values. This creates a massive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3D Data Cube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(X, Y, m/z) that is sparse, noisy, and incredibly complex.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The Bottleneck: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Traditional methods struggle to handle this complexity. We need a way to compress this massive "cube" into essential features without losing the biology</a:t>
            </a:r>
          </a:p>
        </p:txBody>
      </p:sp>
      <p:pic>
        <p:nvPicPr>
          <p:cNvPr id="25" name="Picture 24" descr="A qr code with black squares">
            <a:extLst>
              <a:ext uri="{FF2B5EF4-FFF2-40B4-BE49-F238E27FC236}">
                <a16:creationId xmlns:a16="http://schemas.microsoft.com/office/drawing/2014/main" id="{2B62B8B1-8F52-23C1-E850-9A3847FED07C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4447" y="19593274"/>
            <a:ext cx="1672158" cy="1672158"/>
          </a:xfrm>
          <a:prstGeom prst="rect">
            <a:avLst/>
          </a:prstGeom>
        </p:spPr>
      </p:pic>
      <p:sp>
        <p:nvSpPr>
          <p:cNvPr id="27" name="Rectangle 2">
            <a:extLst>
              <a:ext uri="{FF2B5EF4-FFF2-40B4-BE49-F238E27FC236}">
                <a16:creationId xmlns:a16="http://schemas.microsoft.com/office/drawing/2014/main" id="{23E16FBA-04B8-973A-A81B-51A906732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7160" y="9326705"/>
            <a:ext cx="6202680" cy="5324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 Pro" panose="02040502050405020303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Preprocessing: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We cleaned the raw spectra using binning, Total Ion Current (TIC) normalization, and feature scaling to remove noise and technical artifacts.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The Contenders: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We pitted deep learning against traditional math: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Baselines: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PCA (Linear) &amp; NMF (Matrix Factorization).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Challengers: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Deep Autoencoder (AE) &amp; 1D Convolutional Autoencoder (CNN-AE).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The Strategy: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We trained the Neural Networks to compress the spectra into a tiny "latent space" (200 features) and then reconstruct them. We used a special 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Weighted MSE Loss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Georgia Pro" panose="02040502050405020303" pitchFamily="18" charset="0"/>
              </a:rPr>
              <a:t> to force the AI to focus on chemical peaks, not just empty space.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Georgia Pro" panose="02040502050405020303" pitchFamily="18" charset="0"/>
            </a:endParaRPr>
          </a:p>
        </p:txBody>
      </p:sp>
      <p:pic>
        <p:nvPicPr>
          <p:cNvPr id="6" name="Picture 5" descr="A red and black image">
            <a:extLst>
              <a:ext uri="{FF2B5EF4-FFF2-40B4-BE49-F238E27FC236}">
                <a16:creationId xmlns:a16="http://schemas.microsoft.com/office/drawing/2014/main" id="{609FDC57-E1AB-292A-505E-D3C6C15E547E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5060" y="7778615"/>
            <a:ext cx="5729887" cy="4289230"/>
          </a:xfrm>
          <a:prstGeom prst="rect">
            <a:avLst/>
          </a:prstGeom>
          <a:ln>
            <a:noFill/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B187106-D0BA-A399-02BC-8987D904AF84}"/>
              </a:ext>
            </a:extLst>
          </p:cNvPr>
          <p:cNvSpPr txBox="1"/>
          <p:nvPr/>
        </p:nvSpPr>
        <p:spPr>
          <a:xfrm>
            <a:off x="7275060" y="12344808"/>
            <a:ext cx="572988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 Pro" panose="02040502050405020303" pitchFamily="18" charset="0"/>
              </a:rPr>
              <a:t>Raw cancer tissue section at m/z ratio 390 Da. </a:t>
            </a:r>
            <a:endParaRPr lang="en-ZA" dirty="0">
              <a:latin typeface="Georgia Pro" panose="02040502050405020303" pitchFamily="18" charset="0"/>
            </a:endParaRPr>
          </a:p>
        </p:txBody>
      </p:sp>
      <p:pic>
        <p:nvPicPr>
          <p:cNvPr id="29" name="Picture 28" descr="A diagram of a network">
            <a:extLst>
              <a:ext uri="{FF2B5EF4-FFF2-40B4-BE49-F238E27FC236}">
                <a16:creationId xmlns:a16="http://schemas.microsoft.com/office/drawing/2014/main" id="{1FAF639F-7D6A-4D8F-CEB8-F97C3102DA5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142369" y="7778615"/>
            <a:ext cx="5295102" cy="4289230"/>
          </a:xfrm>
          <a:prstGeom prst="rect">
            <a:avLst/>
          </a:prstGeom>
          <a:effectLst/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3435AE28-C10D-32C7-1B03-5C21861ED7F5}"/>
              </a:ext>
            </a:extLst>
          </p:cNvPr>
          <p:cNvSpPr txBox="1"/>
          <p:nvPr/>
        </p:nvSpPr>
        <p:spPr>
          <a:xfrm>
            <a:off x="15142369" y="12206308"/>
            <a:ext cx="572988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 Pro" panose="02040502050405020303" pitchFamily="18" charset="0"/>
              </a:rPr>
              <a:t>Autoencoder architecture (</a:t>
            </a:r>
            <a:r>
              <a:rPr lang="en-GB" dirty="0">
                <a:solidFill>
                  <a:srgbClr val="C00000"/>
                </a:solidFill>
                <a:latin typeface="Georgia Pro" panose="02040502050405020303" pitchFamily="18" charset="0"/>
              </a:rPr>
              <a:t>Encoder </a:t>
            </a:r>
            <a:r>
              <a:rPr lang="en-GB" dirty="0">
                <a:latin typeface="Georgia Pro" panose="02040502050405020303" pitchFamily="18" charset="0"/>
              </a:rPr>
              <a:t>-&gt; </a:t>
            </a:r>
            <a:r>
              <a:rPr lang="en-GB" dirty="0">
                <a:solidFill>
                  <a:srgbClr val="0070C0"/>
                </a:solidFill>
                <a:latin typeface="Georgia Pro" panose="02040502050405020303" pitchFamily="18" charset="0"/>
              </a:rPr>
              <a:t>Latent Space</a:t>
            </a:r>
            <a:r>
              <a:rPr lang="en-GB" dirty="0">
                <a:latin typeface="Georgia Pro" panose="02040502050405020303" pitchFamily="18" charset="0"/>
              </a:rPr>
              <a:t> -&gt; </a:t>
            </a:r>
            <a:r>
              <a:rPr lang="en-GB" dirty="0">
                <a:solidFill>
                  <a:srgbClr val="00B050"/>
                </a:solidFill>
                <a:latin typeface="Georgia Pro" panose="02040502050405020303" pitchFamily="18" charset="0"/>
              </a:rPr>
              <a:t>Decoder</a:t>
            </a:r>
            <a:r>
              <a:rPr lang="en-GB" dirty="0">
                <a:latin typeface="Georgia Pro" panose="02040502050405020303" pitchFamily="18" charset="0"/>
              </a:rPr>
              <a:t>) </a:t>
            </a:r>
            <a:endParaRPr lang="en-ZA" dirty="0">
              <a:latin typeface="Georgia Pro" panose="02040502050405020303" pitchFamily="18" charset="0"/>
            </a:endParaRPr>
          </a:p>
        </p:txBody>
      </p:sp>
      <p:pic>
        <p:nvPicPr>
          <p:cNvPr id="12" name="Picture 11" descr="A graph of different colored bars">
            <a:extLst>
              <a:ext uri="{FF2B5EF4-FFF2-40B4-BE49-F238E27FC236}">
                <a16:creationId xmlns:a16="http://schemas.microsoft.com/office/drawing/2014/main" id="{F9D8EF60-CE8A-8131-173E-54DDEDB9BDA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49705" y="13531173"/>
            <a:ext cx="6522552" cy="4891914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65282C6A-05AA-8AE7-5205-E824DA337C40}"/>
              </a:ext>
            </a:extLst>
          </p:cNvPr>
          <p:cNvSpPr txBox="1"/>
          <p:nvPr/>
        </p:nvSpPr>
        <p:spPr>
          <a:xfrm>
            <a:off x="14349705" y="18669943"/>
            <a:ext cx="652255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 Pro" panose="02040502050405020303" pitchFamily="18" charset="0"/>
              </a:rPr>
              <a:t>Generalization to Unseen Data: The Fully-Connected AE achieves the highest predictive performance (AUC 0.87), proving it captures robust, transferable features.</a:t>
            </a:r>
            <a:endParaRPr lang="en-ZA" dirty="0">
              <a:latin typeface="Georgia Pro" panose="02040502050405020303" pitchFamily="18" charset="0"/>
            </a:endParaRPr>
          </a:p>
        </p:txBody>
      </p:sp>
      <p:pic>
        <p:nvPicPr>
          <p:cNvPr id="26" name="Picture 25" descr="A yellow and purple blot">
            <a:extLst>
              <a:ext uri="{FF2B5EF4-FFF2-40B4-BE49-F238E27FC236}">
                <a16:creationId xmlns:a16="http://schemas.microsoft.com/office/drawing/2014/main" id="{634C101A-60F4-313C-0B06-E2D7309D0EC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31824" y="7501652"/>
            <a:ext cx="5707741" cy="4566193"/>
          </a:xfrm>
          <a:prstGeom prst="rect">
            <a:avLst/>
          </a:prstGeom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D8FBB3EC-1785-AE9B-778A-D5C5282F74DB}"/>
              </a:ext>
            </a:extLst>
          </p:cNvPr>
          <p:cNvSpPr txBox="1"/>
          <p:nvPr/>
        </p:nvSpPr>
        <p:spPr>
          <a:xfrm>
            <a:off x="22989146" y="12344808"/>
            <a:ext cx="57504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Georgia Pro" panose="02040502050405020303" pitchFamily="18" charset="0"/>
              </a:rPr>
              <a:t>The t-SNE plot of the CNN-AE (the one with distinct islands). The CNN-AE separates biochemical profiles into distinct, clean clusters.</a:t>
            </a:r>
            <a:endParaRPr lang="en-ZA" dirty="0">
              <a:latin typeface="Georgia Pro" panose="02040502050405020303" pitchFamily="18" charset="0"/>
            </a:endParaRP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3AC3D1EB-05E8-2574-C85B-0226F9E19179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23671054" y="13531172"/>
            <a:ext cx="4439413" cy="489191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1143</TotalTime>
  <Words>345</Words>
  <Application>Microsoft Office PowerPoint</Application>
  <PresentationFormat>Custom</PresentationFormat>
  <Paragraphs>23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Arial</vt:lpstr>
      <vt:lpstr>Georgia Pro</vt:lpstr>
      <vt:lpstr>Liberation Sans</vt:lpstr>
      <vt:lpstr>Liberation Serif</vt:lpstr>
      <vt:lpstr>Noto Sans Bhaiksuki</vt:lpstr>
      <vt:lpstr>Default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Tapiwa Mazarura</dc:creator>
  <cp:lastModifiedBy>Tapiwa Mazarura</cp:lastModifiedBy>
  <cp:revision>12</cp:revision>
  <dcterms:created xsi:type="dcterms:W3CDTF">2025-11-23T14:18:29Z</dcterms:created>
  <dcterms:modified xsi:type="dcterms:W3CDTF">2025-11-25T17:16:24Z</dcterms:modified>
</cp:coreProperties>
</file>